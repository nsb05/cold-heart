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Cold-Start Energy Consumption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96D6"/>
                </a:solidFill>
                <a:latin typeface="Calibri"/>
              </a:defRPr>
            </a:pPr>
            <a:r>
              <a:t>Prediction for Smart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Using Machine Learning, Deep Learning &amp; Transfer Learning Approaches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36576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Presented by: Neeraj Singh B</a:t>
            </a:r>
            <a:r>
              <a:rPr lang="en-US" dirty="0"/>
              <a:t>isht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Dataset: CEEW Smart Meter Data — Mathura, India  |  2019 · 2020 ·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084832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30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15184"/>
            <a:ext cx="411480" cy="411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6090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Methodology &amp; Architecture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45535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9125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675888"/>
            <a:ext cx="41148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216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Models Implemented (ML, DL, Statistical)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20624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Transfer Learning Approach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736591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Results &amp; Performance Comparison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266943"/>
            <a:ext cx="411480" cy="411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312663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Key Findings &amp; Conclusions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797296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84301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Future Work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Why cold-start prediction matters for smart 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45720" cy="20116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❄  THE COLD-START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Traditional forecasting needs historical data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from the same building &amp; time period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But this data doesn't exist for: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•  Newly installed smart meters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•  New buildings with no usage history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•  Post-renovation energy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737360"/>
            <a:ext cx="45720" cy="2011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⚡  OUR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03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Train on 2019 + 2021 smart meter data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Test on 2020 (completely unseen year)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This simulates a real cold-start scenario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where next-year data is unavailable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Compare 12 models across 3 paradigms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11064240" cy="9144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D700"/>
                </a:solidFill>
                <a:latin typeface="Calibri"/>
              </a:defRPr>
            </a:pPr>
            <a:r>
              <a:t>🔬 Research Question: Can models trained on non-contiguous years (2019 + 2021) accurately predict energy consumption of an unseen year (2020)?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5486400"/>
            <a:ext cx="4572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🌍  REAL-WORLD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521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Enables energy planning for new buildings  •  Supports smart grid optimization  •  Reduces energy waste  •  Enables proactive demand response in smart cities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CEEW Smart Meter Data — Mathura,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2019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CEEW Smart Meter</a:t>
            </a:r>
            <a:br/>
            <a:r>
              <a:t>Mathura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Role: Training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~47 MB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45920"/>
            <a:ext cx="329184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  <a:latin typeface="Calibri"/>
              </a:defRPr>
            </a:pPr>
            <a:r>
              <a:t>2020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CEEW Smart Meter</a:t>
            </a:r>
            <a:br/>
            <a:r>
              <a:t>Mathura 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Role: Test Set (Unseen)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~182 MB 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645920"/>
            <a:ext cx="329184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2021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48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 Cleaned Data</a:t>
            </a:r>
            <a:br/>
            <a:r>
              <a:t>MH 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Role: Training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Supplementary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502920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389120"/>
            <a:ext cx="45720" cy="20116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📊  KEY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754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Target Variable: t_kWh (total energy in kWh)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Temporal resolution: Hourly readings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Preprocessing: Resampled to hourly mean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Missing values: Linear interpolation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Geographic: Mathura, Uttar Pradesh, India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5029200" cy="21945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4389120"/>
            <a:ext cx="45720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🔄  COLD-START SPLIT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54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Training: 2019 + 2021 combined data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Testing: 2020 — completely unseen year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No data leakage from the test year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Simulates real-world deployment scenario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Models must generalize across year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Methodology &amp; 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End-to-end prediction framework</a:t>
            </a:r>
          </a:p>
        </p:txBody>
      </p:sp>
      <p:pic>
        <p:nvPicPr>
          <p:cNvPr id="7" name="Picture 6" descr="methodology_flo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0" y="1371600"/>
            <a:ext cx="576072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0" y="1481328"/>
            <a:ext cx="73152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389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r>
              <a:t>1. Raw 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733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Load CEEW CSV files (2019, 2020, 2021)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194560"/>
            <a:ext cx="576072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2304288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22128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2. Data 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96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Auto-detect time column, parse datetime,</a:t>
            </a:r>
            <a:br/>
            <a:r>
              <a:t>hourly resampling, linear interpolation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017520"/>
            <a:ext cx="576072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3127248"/>
            <a:ext cx="731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30358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3. 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3192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Cyclical encoding (hour_sin, hour_cos),</a:t>
            </a:r>
            <a:br/>
            <a:r>
              <a:t>lag features (1h, 24h), sliding windows (T=48)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840480"/>
            <a:ext cx="576072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3950208"/>
            <a:ext cx="731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858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4. Cold-Start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1422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Train on 2019+2021 → Test on 2020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663440"/>
            <a:ext cx="576072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4773168"/>
            <a:ext cx="73152" cy="7315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681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5. Model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9651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 models: ML + DL + Statistical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5486400"/>
            <a:ext cx="5760720" cy="7315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40" y="5596128"/>
            <a:ext cx="73152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504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6.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788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MAE, RMSE, R², MAPE, CV(RMSE)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Transforming raw data into predictive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47472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45720" cy="3474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Cyclical Time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hour_sin = sin(2π × hour / 24)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hour_cos = cos(2π × hour / 24)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Why? Captures the circular nature of time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(Hour 23 is close to Hour 0)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Avoids misleading linear time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47472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45720" cy="3474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Lag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lag_1: Energy value 1 hour ago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lag_24: Energy value 24 hours ago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Why? Captures short-term patterns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and daily periodicity in energy usage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Most recent history is the best predictor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474720" cy="3657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645920"/>
            <a:ext cx="45720" cy="3474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Sliding Window Sequences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Window size T = 48 hours (2 days)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Used for LSTM, CNN, GRU, BiLSTM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Input: 48 consecutive timesteps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Next timestep's energy value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Captures multi-day consumption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Calibri"/>
              </a:defRPr>
            </a:pPr>
            <a:r>
              <a:t>💡 Key Insight: Combining cyclical encoding with lag features allows models to learn both time-of-day patterns and recent consumption trends — critical for cold-start generalization.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Models Implemented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12 models across 3 paradigms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47472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Linear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Ridge Regression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Lasso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840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XGBoost (Gradient Boosting)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SVR (Support Vector)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0060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46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HGBoost (AutoML)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554480"/>
            <a:ext cx="347472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28600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2331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LSTM (Long Short-Term Memory)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78892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2834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CNN (1D Convolutional)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29184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3337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GRU (Gated Recurrent Unit)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79476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3840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BiLSTM (Bidirectional)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29768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Transfer LSTM (Pre-train + Fine-tune)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1554480"/>
            <a:ext cx="34747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STATISTICAL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286000"/>
            <a:ext cx="3474720" cy="438912"/>
          </a:xfrm>
          <a:prstGeom prst="roundRect">
            <a:avLst/>
          </a:prstGeom>
          <a:solidFill>
            <a:srgbClr val="16213E"/>
          </a:solidFill>
          <a:ln w="63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20" y="2331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▸  ARIMA (AutoRegressive</a:t>
            </a:r>
            <a:br/>
            <a:r>
              <a:t>  Integrated Moving Average)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Total: 6 ML models  +  5 DL models  +  1 Statistical model  =  12 models compared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Machine Learning Models —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Traditional and ensemble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47472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Baseline model using ordinary</a:t>
            </a:r>
            <a:br/>
            <a:r>
              <a:t>least squares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164592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0.9902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47472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Ridge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L2 regularization (α=1.0)</a:t>
            </a:r>
            <a:br/>
            <a:r>
              <a:t>prevents overfitting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108960"/>
            <a:ext cx="1645920" cy="4114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0.9900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47472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Lasso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L1 regularization (α=0.01)</a:t>
            </a:r>
            <a:br/>
            <a:r>
              <a:t>feature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108960"/>
            <a:ext cx="164592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0.3105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347472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600 trees, lr=0.03, depth=4</a:t>
            </a:r>
            <a:br/>
            <a:r>
              <a:t>gradient boosting ensemble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69280"/>
            <a:ext cx="1645920" cy="411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0.9912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114800"/>
            <a:ext cx="347472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SVR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RBF kernel, C=10, ε=0.1</a:t>
            </a:r>
            <a:br/>
            <a:r>
              <a:t>scaled feature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5669280"/>
            <a:ext cx="1645920" cy="4114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0.9912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114800"/>
            <a:ext cx="347472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HGBoost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617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Bayesian hyperparameter</a:t>
            </a:r>
            <a:br/>
            <a:r>
              <a:t>optimization, 250 evals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5669280"/>
            <a:ext cx="164592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0.9922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Deep Learning Models —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Sequence-based neural network architectures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4747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units, 32 dense</a:t>
            </a:r>
            <a:br/>
            <a:r>
              <a:t>80 epochs, batch 64</a:t>
            </a:r>
            <a:br/>
            <a:r>
              <a:t>Captures long-term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1645920" cy="4114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0.9146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4747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CNN (1D)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filters, kernel=3</a:t>
            </a:r>
            <a:br/>
            <a:r>
              <a:t>pool=2, 80 epochs</a:t>
            </a:r>
            <a:br/>
            <a:r>
              <a:t>1D convolutions for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017520"/>
            <a:ext cx="164592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0.8673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4747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GRU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units, 32 dense</a:t>
            </a:r>
            <a:br/>
            <a:r>
              <a:t>80 epochs, lighter LSTM</a:t>
            </a:r>
            <a:br/>
            <a:r>
              <a:t>Faster training, similar perf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017520"/>
            <a:ext cx="1645920" cy="4114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0.8815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931920"/>
            <a:ext cx="34747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0" y="4023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BiLSTM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64 units bidirectional</a:t>
            </a:r>
            <a:br/>
            <a:r>
              <a:t>Forward + backward pass</a:t>
            </a:r>
            <a:br/>
            <a:r>
              <a:t>Context from both directions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5394960"/>
            <a:ext cx="164592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0.8703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34747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Transfer LSTM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Pre-train on 2019 →</a:t>
            </a:r>
            <a:br/>
            <a:r>
              <a:t>Fine-tune on 2021</a:t>
            </a:r>
            <a:br/>
            <a:r>
              <a:t>3-phase progressive unfreezing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94960"/>
            <a:ext cx="1645920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R² = 0.8866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Common config: Sequence length = 48 hours  |  Optimizer = Adam  |  Loss = MSE  |  Batch size =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Transfer Learning — LSTM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Progressive unfreezing for cold-start adaptation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47472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Pre-training on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64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377440"/>
            <a:ext cx="45720" cy="23774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Calibr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43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 LSTM on 2019 data (source domain)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64 units, 32 dense layer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50 epochs with Adam optimizer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Learns general energy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54480"/>
            <a:ext cx="34747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5727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801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Fine-tune Dense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6642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28600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2377440"/>
            <a:ext cx="45720" cy="2377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2743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Freeze LSTM layers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Fine-tune only dense output layers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Train on 2021 data (target domain)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20 epochs, LR = 5×10⁻⁴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554480"/>
            <a:ext cx="347472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15727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8013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Fine-tuning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286000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75320" y="2377440"/>
            <a:ext cx="45720" cy="2377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2377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432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Unfreeze all layers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Very low learning rate: 1×10⁻⁵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20 epochs gentle fine-tuning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Adapts without catastrophic forgetting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20640"/>
            <a:ext cx="11247120" cy="128016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📊  Transfer LSTM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R² = 0.8866  |  MAE = 0.0015  |  RMSE = 0.0028  |  MAPE = 15.80%</a:t>
            </a:r>
            <a:br/>
            <a:r>
              <a:t>While not outperforming traditional ML, Transfer LSTM demonstrates viability of cross-domain knowledge transfer for cold-start scenarios.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—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Complete metrics across all 12 models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CV(RMSE) (%)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HGBoost ★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0.0004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0.0007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0.9922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4.53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8.44</a:t>
                      </a:r>
                    </a:p>
                  </a:txBody>
                  <a:tcPr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A3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0.0004</a:t>
                      </a:r>
                    </a:p>
                  </a:txBody>
                  <a:tcPr>
                    <a:solidFill>
                      <a:srgbClr val="1A3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A3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0.9912</a:t>
                      </a:r>
                    </a:p>
                  </a:txBody>
                  <a:tcPr>
                    <a:solidFill>
                      <a:srgbClr val="1A3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4.67</a:t>
                      </a:r>
                    </a:p>
                  </a:txBody>
                  <a:tcPr>
                    <a:solidFill>
                      <a:srgbClr val="1A33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9.00</a:t>
                      </a:r>
                    </a:p>
                  </a:txBody>
                  <a:tcPr>
                    <a:solidFill>
                      <a:srgbClr val="1A3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1A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0.0005</a:t>
                      </a:r>
                    </a:p>
                  </a:txBody>
                  <a:tcPr>
                    <a:solidFill>
                      <a:srgbClr val="1A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A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0.9912</a:t>
                      </a:r>
                    </a:p>
                  </a:txBody>
                  <a:tcPr>
                    <a:solidFill>
                      <a:srgbClr val="1A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7.49</a:t>
                      </a:r>
                    </a:p>
                  </a:txBody>
                  <a:tcPr>
                    <a:solidFill>
                      <a:srgbClr val="1A2E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ECC71"/>
                          </a:solidFill>
                          <a:latin typeface="Calibri"/>
                        </a:defRPr>
                      </a:pPr>
                      <a:r>
                        <a:t>8.98</a:t>
                      </a:r>
                    </a:p>
                  </a:txBody>
                  <a:tcPr>
                    <a:solidFill>
                      <a:srgbClr val="1A2E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0.9902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8.09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9.46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0.0008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0.9900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8.50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9.60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0.0025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0.9146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13.10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28.04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Transfer LSTM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0.0028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0.8866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15.80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32.31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GRU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0.0029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0.8815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13.09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33.03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BiLSTM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0.0030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0.8703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15.09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34.55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CNN (1D)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0.0016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0.0031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0.8673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17.59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99999"/>
                          </a:solidFill>
                          <a:latin typeface="Calibri"/>
                        </a:defRPr>
                      </a:pPr>
                      <a:r>
                        <a:t>34.96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Lasso Regression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0.0063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0.0069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0.3105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115.16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79.51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ARIMA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0.0050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0.0089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-0.1415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44.26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102.30</a:t>
                      </a:r>
                    </a:p>
                  </a:txBody>
                  <a:tcPr>
                    <a:solidFill>
                      <a:srgbClr val="3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★ Best Overall  |  Green = Top performers  |  Red = Poor performers  |  Ranked by R² (descending)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Visual Results — Prediction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ML models (top) vs Deep Learning models (bottom)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Visual Results — Metrics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MAE, RMSE, and R² across all models</a:t>
            </a:r>
          </a:p>
        </p:txBody>
      </p:sp>
      <p:pic>
        <p:nvPicPr>
          <p:cNvPr id="7" name="Picture 6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Calibri"/>
              </a:defRPr>
            </a:pPr>
            <a:r>
              <a:t>💡 ML models (especially HGBoost, XGBoost, SVR) significantly outperform DL models in the cold-start scenario. ARIMA and Lasso show poor generalization to unseen years.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Findings &amp;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HGBoost is the Best Overall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556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R² = 0.9922, lowest CV(RMSE) of 8.44%. Bayesian hyperparameter optimization pays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95728"/>
            <a:ext cx="1124712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54864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414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4144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ML Models Dominate Cold-Start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7977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Top 5 models (R² &gt; 0.99) are all ML-based. Feature-engineered tabular models outperform sequence-based DL models in this scenario.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9856"/>
            <a:ext cx="1124712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419856"/>
            <a:ext cx="54864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4655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6557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Deep Learning Achieves ≈0.87–0.91 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0390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LSTM leads DL models (R²=0.9146). DL models need more data to reach ML-level performance in cold-start conditions.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43984"/>
            <a:ext cx="1124712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443984"/>
            <a:ext cx="54864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4897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8970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Transfer Learning Shows Promise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2803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Transfer LSTM (R²=0.8866) demonstrates viability of cross-domain knowledge transfer, though still behind traditional ML approaches.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68112"/>
            <a:ext cx="1124712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468112"/>
            <a:ext cx="54864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513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1383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ARIMA &amp; Lasso Fail in Cold-Start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8521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ARIMA (R²=-0.14) and Lasso (R²=0.31) cannot generalize across years. Statistical models and aggressive regularization are not suitable.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Work &amp;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9496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45720" cy="11887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→  Ensemble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Combine top ML and DL models for even better predictions. Stacking HGBoost + LSTM could leverage both paradigms.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46520" y="1508760"/>
            <a:ext cx="45720" cy="1188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→  Weather Data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Incorporate temperature, humidity, and solar radiation data to improve cold-start generalization.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539496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246120"/>
            <a:ext cx="45720" cy="1188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→  Attention Mechanisms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Add Transformer-based attention to DL models for better long-range dependency capture.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539496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3246120"/>
            <a:ext cx="4572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3200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→  Multi-Building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Extend transfer learning across multiple buildings and geographic regions.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539496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983480"/>
            <a:ext cx="45720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→  Real-Time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Build a production pipeline with online learning and streaming predictions for smart grid integration.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846320"/>
            <a:ext cx="539496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46520" y="4983480"/>
            <a:ext cx="45720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937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→  Explainability (XAI)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Apply SHAP/LIME for model interpretability in energy management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30175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45720" cy="2834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📚 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789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CEEW (Council on Energy, Environment and Water) — Smart Meter Data, Mathura, India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Hochreiter &amp; Schmidhuber (1997) — Long Short-Term Memory (LSTM)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Chen &amp; Guestrin (2016) — XGBoost: A Scalable Tree Boosting System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Cho et al. (2014) — Learning Phrase Representations using RNN Encoder–Decoder (GRU)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Yosinski et al. (2014) — How Transferable are Features in Deep Neural Networks?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Box, Jenkins, Reinsel (2015) — Time Series Analysis: ARIMA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4754880"/>
            <a:ext cx="457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🛠  TOOLS &amp;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Python 3.8+  •  TensorFlow / Keras  •  scikit-learn  •  XGBoost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pandas  •  NumPy  •  Matplotlib  •  pmdarima  •  HGBoost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GitHub Repository: github.com/Nsb05/Cold-Heart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92608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96D6"/>
                </a:solidFill>
                <a:latin typeface="Calibri"/>
              </a:defRPr>
            </a:pPr>
            <a:r>
              <a:t>Cold-Start Energy Consumption Prediction for Smart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Neeraj Singh B</a:t>
            </a:r>
            <a:r>
              <a:rPr lang="en-US" dirty="0"/>
              <a:t>isht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github.com/Nsb05/Cold-Heart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1691</Words>
  <Application>Microsoft Office PowerPoint</Application>
  <PresentationFormat>Widescreen</PresentationFormat>
  <Paragraphs>337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Neeraj Singh Bisht</cp:lastModifiedBy>
  <cp:revision>2</cp:revision>
  <dcterms:created xsi:type="dcterms:W3CDTF">2013-01-27T09:14:16Z</dcterms:created>
  <dcterms:modified xsi:type="dcterms:W3CDTF">2026-04-06T18:52:36Z</dcterms:modified>
  <cp:category/>
</cp:coreProperties>
</file>