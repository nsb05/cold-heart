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45720" cy="399592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Cold-Start Energy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0096D6"/>
                </a:solidFill>
                <a:latin typeface="Calibri"/>
              </a:defRPr>
            </a:pPr>
            <a:r>
              <a:t>Prediction for Smart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Using Machine Learning, Deep Learning &amp; Transfer Learning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86200"/>
            <a:ext cx="32918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134" y="401436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Presented by: </a:t>
            </a:r>
            <a:endParaRPr lang="en-US" dirty="0"/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Neeraj Singh Bisht</a:t>
            </a:r>
            <a:endParaRPr lang="en-US" dirty="0"/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Amber Paul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182702" y="578844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Dataset: CEEW Smart Meter Data — Mathura, India  |  2019 · 2020 ·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8818" y="6062768"/>
            <a:ext cx="6639724" cy="2199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463040"/>
            <a:ext cx="457200" cy="31089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92808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45720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56816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68296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8" y="2414015"/>
            <a:ext cx="457200" cy="310896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32303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Methodology &amp; Pipeline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43784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9808" y="2889504"/>
            <a:ext cx="457200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07792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19272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9808" y="3364991"/>
            <a:ext cx="457200" cy="310896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83279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Models Implemented (ML · DL · Statistical)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8" y="3840480"/>
            <a:ext cx="457200" cy="31089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58768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Transfer Learning — LSTM Approach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0248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9808" y="4315968"/>
            <a:ext cx="45720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34256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Results &amp; Performance Comparison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45736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8" y="4791456"/>
            <a:ext cx="457200" cy="31089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09744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Best Model Deep-Dive (HGBoost)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21224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9808" y="5266944"/>
            <a:ext cx="457200" cy="310896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85232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Key Findings &amp; Conclusions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96712"/>
            <a:ext cx="10911535" cy="402336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49808" y="5742431"/>
            <a:ext cx="457200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60720"/>
            <a:ext cx="9601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Future Work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Why cold-start prediction matters for smart buildings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95747" cy="237744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527048"/>
            <a:ext cx="36576" cy="215798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08760"/>
            <a:ext cx="492998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THE COLD-START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19656"/>
            <a:ext cx="4929987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Traditional forecasting requires historical data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from the same building and time period.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But this data doesn't exist for: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•  Newly installed smart meters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•  New buildings with no usage history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•  Post-renovation energy pattern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417320"/>
            <a:ext cx="5295747" cy="237744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65595" y="1527048"/>
            <a:ext cx="36576" cy="21579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1899" y="1508760"/>
            <a:ext cx="492998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1899" y="1819656"/>
            <a:ext cx="4929987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 on 2019 + 2021 smart meter data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Test on 2020 (completely unseen year)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Simulates a real cold-start scenario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where next-year data is unavailable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Compare 12 models across 3 paradigms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11535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4543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Research Question:  Can models trained on non-contiguous years (2019 + 2021) accurately predict energy consumption of an unseen year (2020)?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60"/>
            <a:ext cx="10911535" cy="105156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5276088"/>
            <a:ext cx="36576" cy="8321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257800"/>
            <a:ext cx="10545775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REAL-WORLD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68696"/>
            <a:ext cx="10545775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Enables energy planning for new buildings  ·  Supports smart-grid optimization  ·  Reduces energy waste  ·  Enables proactive demand response in smart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CEEW Smart Meter Data — Mathura,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3818" cy="2331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2019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56232"/>
            <a:ext cx="2692298" cy="1828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314949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CEEW Smart Meter</a:t>
            </a:r>
            <a:br/>
            <a:r>
              <a:t>Mathura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Role: Training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314949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~47 MB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1417320"/>
            <a:ext cx="3423818" cy="2331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1098" y="1527048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2020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9698" y="1856232"/>
            <a:ext cx="2692298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1098" y="1947672"/>
            <a:ext cx="314949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CEEW Smart Meter</a:t>
            </a:r>
            <a:br/>
            <a:r>
              <a:t>Mathura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2560320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Role: Test Set (Unseen)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2880360"/>
            <a:ext cx="314949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~182 MB 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7796" y="1417320"/>
            <a:ext cx="3423818" cy="2331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4956" y="1527048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2021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93556" y="1856232"/>
            <a:ext cx="2692298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4956" y="1947672"/>
            <a:ext cx="314949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 Cleaned Data</a:t>
            </a:r>
            <a:br/>
            <a:r>
              <a:t>MH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4956" y="2560320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Role: Training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4956" y="2880360"/>
            <a:ext cx="314949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Supplementary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069080"/>
            <a:ext cx="5295747" cy="219456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9808" y="4178808"/>
            <a:ext cx="36576" cy="19751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4160520"/>
            <a:ext cx="492998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471416"/>
            <a:ext cx="4929987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Target: t_kWh (total energy in kWh)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Resolution: Hourly readings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Preprocessing: Resampled to hourly mean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Missing values: Linear interpolation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Location: Mathura, Uttar Pradesh, India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5867" y="4069080"/>
            <a:ext cx="5295747" cy="219456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65595" y="4178808"/>
            <a:ext cx="36576" cy="19751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1899" y="4160520"/>
            <a:ext cx="492998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COLD-START SPLIT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1899" y="4471416"/>
            <a:ext cx="4929987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Training: 2019 + 2021 combined data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Testing: 2020 — completely unseen year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No data leakage from the target year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Simulates real-world deployment scenario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Models must generalize across year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Methodology &amp;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End-to-end prediction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7" name="Picture 6" descr="methodology_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417320"/>
            <a:ext cx="5790895" cy="749808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1417320"/>
            <a:ext cx="45720" cy="74980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472184"/>
            <a:ext cx="5470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1. Raw 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46504"/>
            <a:ext cx="54708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Load CEEW CSV files (2019, 2020, 2021)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221991"/>
            <a:ext cx="5790895" cy="749808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2221991"/>
            <a:ext cx="4572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2276856"/>
            <a:ext cx="5470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2. Data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51175"/>
            <a:ext cx="54708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Auto-detect time column · parse datetime · hourly resampling · interpolation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026663"/>
            <a:ext cx="5790895" cy="749808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3026663"/>
            <a:ext cx="45720" cy="7498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3081527"/>
            <a:ext cx="5470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3. 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55847"/>
            <a:ext cx="54708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Cyclical encoding (hour_sin/cos) · lag (1h, 24h) · sliding windows T=48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3831335"/>
            <a:ext cx="5790895" cy="749808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3831335"/>
            <a:ext cx="4572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3886199"/>
            <a:ext cx="5470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4. Cold-Start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60520"/>
            <a:ext cx="54708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Train: 2019 + 2021  →  Test: 2020 (unseen)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4636007"/>
            <a:ext cx="5790895" cy="749808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0" y="4636007"/>
            <a:ext cx="45720" cy="7498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4690871"/>
            <a:ext cx="5470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5. Model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65192"/>
            <a:ext cx="54708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 models: 6 ML + 5 DL + 1 Statistical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5440679"/>
            <a:ext cx="5790895" cy="749808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5440679"/>
            <a:ext cx="45720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5495543"/>
            <a:ext cx="5470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6. Evaluation &amp;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769864"/>
            <a:ext cx="54708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MAE · RMSE · R² · MAPE · CV(RMSE) + plots &amp;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Transforming raw data into predictive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3818" cy="3749039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527048"/>
            <a:ext cx="36576" cy="3529583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08760"/>
            <a:ext cx="305805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Cyclical Time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19656"/>
            <a:ext cx="305805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hour_sin = sin(2π × hour / 24)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hour_cos = cos(2π × hour / 24)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Captures circular nature of time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(Hour 23 is close to Hour 0)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Prevents misleading linear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1417320"/>
            <a:ext cx="3423818" cy="3749039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93666" y="1527048"/>
            <a:ext cx="36576" cy="3529583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9970" y="1508760"/>
            <a:ext cx="305805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Lag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9970" y="1819656"/>
            <a:ext cx="305805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lag_1 : Energy value 1 hour ago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lag_24: Energy value 24 hours ago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Captures short-term patterns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and daily periodicity in usage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Recent history = best predictor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423818" cy="3749039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37524" y="1527048"/>
            <a:ext cx="36576" cy="3529583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3828" y="1508760"/>
            <a:ext cx="305805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Sliding Window 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1819656"/>
            <a:ext cx="305805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Window size T = 48 hours (2 days)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Used for LSTM, CNN, GRU, BiLSTM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Input: 48 consecutive timesteps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Next timestep prediction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Captures multi-day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94960"/>
            <a:ext cx="10911535" cy="68580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468112"/>
            <a:ext cx="1054577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Key Insight:  Combining cyclical encoding with lag features lets models learn time-of-day patterns and recent consumption trends — critical for cold-start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Models Implemented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12 models across 3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3818" cy="43891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472184"/>
            <a:ext cx="324093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MACHINE LEARNING (6)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842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Linear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Ridge Regression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986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Lasso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558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4107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XGBoost (Gradient Boosting)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130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67911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SVR (Support Vector)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702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HGBoost (AutoML)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3938" y="1417320"/>
            <a:ext cx="3423818" cy="43891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5378" y="1472184"/>
            <a:ext cx="324093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DEEP LEARNING (5)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3938" y="19842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1098" y="20391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LSTM (Long Short-Term Memory)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3938" y="24414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1098" y="24963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CNN (1D Convolutional)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3938" y="28986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1098" y="29535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GRU (Gated Recurrent Unit)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3938" y="33558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1098" y="34107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BiLSTM (Bidirectional)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3938" y="38130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1098" y="3867911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Transfer LSTM (Fine-tune)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7796" y="1417320"/>
            <a:ext cx="3423818" cy="43891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9236" y="1472184"/>
            <a:ext cx="324093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STATISTICAL (1)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7796" y="19842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64956" y="20391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ARIMA (AutoRegressive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7796" y="2441448"/>
            <a:ext cx="3423818" cy="39319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64956" y="2496312"/>
            <a:ext cx="31494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  Integrated Moving Avg)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Total: 6 ML  +  5 DL  +  1 Statistical  =  12 models compared under cold-start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Machine Learning Models —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Traditional and ensemble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45336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096D6"/>
                </a:solidFill>
                <a:latin typeface="Calibri"/>
              </a:defRPr>
            </a:pPr>
            <a:r>
              <a:t>Linear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" y="1874519"/>
            <a:ext cx="2054291" cy="1828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3094634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Baseline OLS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788920"/>
            <a:ext cx="1554480" cy="38404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0.9902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141732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8530" y="1545336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Ridge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8530" y="1874519"/>
            <a:ext cx="2054291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8530" y="1965960"/>
            <a:ext cx="3094634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L2 regularization, α =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8530" y="2788920"/>
            <a:ext cx="1554480" cy="38404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0.9900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41732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2388" y="1545336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E67E22"/>
                </a:solidFill>
                <a:latin typeface="Calibri"/>
              </a:defRPr>
            </a:pPr>
            <a:r>
              <a:t>Lasso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2388" y="1874519"/>
            <a:ext cx="2054291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2388" y="1965960"/>
            <a:ext cx="3094634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L1 regularization, α = 0.01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2388" y="2788920"/>
            <a:ext cx="155448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0.3105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4014215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ECC71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" y="4343400"/>
            <a:ext cx="2054291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434840"/>
            <a:ext cx="3094634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600 trees, lr=0.03, depth=4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" y="5257800"/>
            <a:ext cx="1554480" cy="38404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0.9912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3938" y="388620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8530" y="4014215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9B59B6"/>
                </a:solidFill>
                <a:latin typeface="Calibri"/>
              </a:defRPr>
            </a:pPr>
            <a:r>
              <a:t>SVR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48530" y="4343400"/>
            <a:ext cx="2054291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48530" y="4434840"/>
            <a:ext cx="3094634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RBF kernel, C=10, ε=0.1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8530" y="5257800"/>
            <a:ext cx="1554480" cy="384048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0.9912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7796" y="388620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92388" y="4014215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HGBoost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92388" y="4343400"/>
            <a:ext cx="2054291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92388" y="4434840"/>
            <a:ext cx="3094634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Bayesian optimized, 250 evals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92388" y="5257800"/>
            <a:ext cx="1554480" cy="384048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0.9922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Deep Learning Models —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Sequence-based neural network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45336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9B59B6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" y="1874519"/>
            <a:ext cx="2054291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3094634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units, 32 dense, 80 epochs</a:t>
            </a:r>
            <a:br/>
            <a:r>
              <a:t>Captures long-term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834640"/>
            <a:ext cx="1554480" cy="384048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0.9146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141732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8530" y="1545336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E67E22"/>
                </a:solidFill>
                <a:latin typeface="Calibri"/>
              </a:defRPr>
            </a:pPr>
            <a:r>
              <a:t>CNN (1D)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8530" y="1874519"/>
            <a:ext cx="2054291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8530" y="1965960"/>
            <a:ext cx="3094634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filters, kernel=3, pool=2</a:t>
            </a:r>
            <a:br/>
            <a:r>
              <a:t>1D convolutions for local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8530" y="2834640"/>
            <a:ext cx="155448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0.8673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417320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2388" y="1545336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GRU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2388" y="1874519"/>
            <a:ext cx="2054291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2388" y="1965960"/>
            <a:ext cx="3094634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units, 80 epochs</a:t>
            </a:r>
            <a:br/>
            <a:r>
              <a:t>Lighter LSTM alternative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2388" y="2834640"/>
            <a:ext cx="1554480" cy="38404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0.8815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2009" y="3749039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76601" y="3877055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E74C3C"/>
                </a:solidFill>
                <a:latin typeface="Calibri"/>
              </a:defRPr>
            </a:pPr>
            <a:r>
              <a:t>BiLSTM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6601" y="4206240"/>
            <a:ext cx="2054291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76601" y="4297679"/>
            <a:ext cx="3094634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units bidirectional</a:t>
            </a:r>
            <a:br/>
            <a:r>
              <a:t>Forward + backward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6601" y="5166359"/>
            <a:ext cx="1554480" cy="38404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0.8703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5867" y="3749039"/>
            <a:ext cx="3423818" cy="2103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0459" y="3877055"/>
            <a:ext cx="309463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096D6"/>
                </a:solidFill>
                <a:latin typeface="Calibri"/>
              </a:defRPr>
            </a:pPr>
            <a:r>
              <a:t>Transfer LSTM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0459" y="4206240"/>
            <a:ext cx="2054291" cy="1828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0459" y="4297679"/>
            <a:ext cx="3094634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Pre-train 2019 → Fine-tune 2021</a:t>
            </a:r>
            <a:br/>
            <a:r>
              <a:t>3-phase progressive unfreezing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0459" y="5166359"/>
            <a:ext cx="1554480" cy="38404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R² = 0.8866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Common config:  Sequence length = 48 h  |  Optimizer = Adam  |  Loss = MSE  |  Batch =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Transfer Learning — LSTM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Progressive unfreezing for cold-start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3818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435608"/>
            <a:ext cx="3240938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636776"/>
            <a:ext cx="324093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Pre-training on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2186" y="1508760"/>
            <a:ext cx="2834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3423818" cy="219456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67128"/>
            <a:ext cx="36576" cy="19751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148840"/>
            <a:ext cx="305805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459736"/>
            <a:ext cx="305805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 LSTM on 2019 data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64 units, 32 dense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50 epochs, Adam optimizer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Learns general energy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3938" y="1417320"/>
            <a:ext cx="3423818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75378" y="1435608"/>
            <a:ext cx="3240938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378" y="1636776"/>
            <a:ext cx="324093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Fine-tune Dense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6044" y="1508760"/>
            <a:ext cx="2834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3938" y="2057400"/>
            <a:ext cx="3423818" cy="219456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93666" y="2167128"/>
            <a:ext cx="36576" cy="19751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9970" y="2148840"/>
            <a:ext cx="305805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9970" y="2459736"/>
            <a:ext cx="305805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Freeze LSTM layers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Fine-tune output dense only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 on 2021 (target domain)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20 epochs, LR = 5×10⁻⁴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417320"/>
            <a:ext cx="3423818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9236" y="1435608"/>
            <a:ext cx="3240938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9236" y="1636776"/>
            <a:ext cx="324093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Full Fine-tuning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2057400"/>
            <a:ext cx="3423818" cy="219456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37524" y="2167128"/>
            <a:ext cx="36576" cy="197510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3828" y="2148840"/>
            <a:ext cx="305805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3828" y="2459736"/>
            <a:ext cx="305805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Unfreeze all layers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Very low LR: 1×10⁻⁵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20 epochs gentle tuning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Prevents catastrophic forgetting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26280"/>
            <a:ext cx="10911535" cy="16459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617720"/>
            <a:ext cx="104543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Transfer LSTM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37760"/>
            <a:ext cx="104543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R² = 0.8866   |   MAE = 0.0015   |   RMSE = 0.0028   |   MAPE = 15.80%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03520"/>
            <a:ext cx="10454335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While not outperforming traditional ML models, Transfer LSTM demonstrates the viability of cross-domain knowledge transfer for cold-start scenarios. With more diverse source data and advanced domain-adaptation techniques, this gap can be further narrowed.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— Full 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All 12 models ranked by R² (descending)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9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6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CV(RMSE) (%)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HGBoost  ★</a:t>
                      </a:r>
                    </a:p>
                  </a:txBody>
                  <a:tcPr>
                    <a:solidFill>
                      <a:srgbClr val="142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0.0004</a:t>
                      </a:r>
                    </a:p>
                  </a:txBody>
                  <a:tcPr>
                    <a:solidFill>
                      <a:srgbClr val="142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0.0007</a:t>
                      </a:r>
                    </a:p>
                  </a:txBody>
                  <a:tcPr>
                    <a:solidFill>
                      <a:srgbClr val="142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0.9922</a:t>
                      </a:r>
                    </a:p>
                  </a:txBody>
                  <a:tcPr>
                    <a:solidFill>
                      <a:srgbClr val="142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4.53</a:t>
                      </a:r>
                    </a:p>
                  </a:txBody>
                  <a:tcPr>
                    <a:solidFill>
                      <a:srgbClr val="142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8.44</a:t>
                      </a:r>
                    </a:p>
                  </a:txBody>
                  <a:tcPr>
                    <a:solidFill>
                      <a:srgbClr val="142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42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0.0004</a:t>
                      </a:r>
                    </a:p>
                  </a:txBody>
                  <a:tcPr>
                    <a:solidFill>
                      <a:srgbClr val="142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42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0.9912</a:t>
                      </a:r>
                    </a:p>
                  </a:txBody>
                  <a:tcPr>
                    <a:solidFill>
                      <a:srgbClr val="142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142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9.00</a:t>
                      </a:r>
                    </a:p>
                  </a:txBody>
                  <a:tcPr>
                    <a:solidFill>
                      <a:srgbClr val="142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142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0.0005</a:t>
                      </a:r>
                    </a:p>
                  </a:txBody>
                  <a:tcPr>
                    <a:solidFill>
                      <a:srgbClr val="142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42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0.9912</a:t>
                      </a:r>
                    </a:p>
                  </a:txBody>
                  <a:tcPr>
                    <a:solidFill>
                      <a:srgbClr val="142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7.49</a:t>
                      </a:r>
                    </a:p>
                  </a:txBody>
                  <a:tcPr>
                    <a:solidFill>
                      <a:srgbClr val="142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8.98</a:t>
                      </a:r>
                    </a:p>
                  </a:txBody>
                  <a:tcPr>
                    <a:solidFill>
                      <a:srgbClr val="142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0.9902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8.09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9.46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8.50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9.60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0.0025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0.9146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13.10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28.04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Transfer LSTM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0.0028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0.8866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15.80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32.31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0.0029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0.8815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13.09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33.03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BiLSTM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0.0030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0.8703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15.09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34.55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CNN (1D)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0.0031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0.8673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17.59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34.96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Lasso Regression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0.0069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0.3105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115.16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79.51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ARIMA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0.0050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0.0089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−0.14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44.26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102.30</a:t>
                      </a:r>
                    </a:p>
                  </a:txBody>
                  <a:tcPr>
                    <a:solidFill>
                      <a:srgbClr val="30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★ Best overall   |   Green = Top performers   |   Red = Poor performers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Visual Results — Prediction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ML models (top)  vs  Deep Learning models (bottom)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Visual Results — Metrics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MAE · RMSE · R²  across all 12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</a:t>
            </a:r>
          </a:p>
        </p:txBody>
      </p:sp>
      <p:pic>
        <p:nvPicPr>
          <p:cNvPr id="7" name="Picture 6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11795760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577840"/>
            <a:ext cx="10911535" cy="64008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5650992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ML models (HGBoost, XGBoost, SVR) significantly outperform DL models in the cold-start scenario. ARIMA and Lasso show poor generalization to unseen years.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Best Model — HGBoost (Actual vs Predicted)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R² = 0.9922  |  MAE = 0.0004  |  RMSE = 0.0007  |  MAPE = 4.53%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</a:t>
            </a:r>
          </a:p>
        </p:txBody>
      </p:sp>
      <p:pic>
        <p:nvPicPr>
          <p:cNvPr id="7" name="Picture 6" descr="actual_vs_predicted_H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HGBoost achieves the best R² and lowest error across all metrics under cold-start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Runner-up — XGBoost (Actual vs Predicted)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R² = 0.9912  |  MAE = 0.0004  |  RMSE = 0.0008  |  MAPE = 4.67%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</a:t>
            </a:r>
          </a:p>
        </p:txBody>
      </p:sp>
      <p:pic>
        <p:nvPicPr>
          <p:cNvPr id="7" name="Picture 6" descr="actual_vs_predicted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XGBoost matches HGBoost closely with gradient boosting and is the fastest high-accuracy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Best DL Model — LSTM (Actual vs Predicted)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R² = 0.9146  |  MAE = 0.0012  |  RMSE = 0.0025  |  MAPE = 13.10%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</a:t>
            </a:r>
          </a:p>
        </p:txBody>
      </p:sp>
      <p:pic>
        <p:nvPicPr>
          <p:cNvPr id="7" name="Picture 6" descr="actual_vs_predicted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9B59B6"/>
                </a:solidFill>
                <a:latin typeface="Calibri"/>
              </a:defRPr>
            </a:pPr>
            <a:r>
              <a:t>LSTM is the best deep learning model, though it trails ML models — DL needs more cold-start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Linear Regression Family —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Linear vs Ridge vs Lasso under cold-start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</a:t>
            </a:r>
          </a:p>
        </p:txBody>
      </p:sp>
      <p:pic>
        <p:nvPicPr>
          <p:cNvPr id="7" name="Picture 6" descr="lr_ridge_lass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67E22"/>
                </a:solidFill>
                <a:latin typeface="Calibri"/>
              </a:defRPr>
            </a:pPr>
            <a:r>
              <a:t>Linear &amp; Ridge perform comparably (R² ≈ 0.99). Lasso's aggressive L1 regularization destroys features needed for cold-start.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Findings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8961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4864" cy="8961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72184"/>
            <a:ext cx="105457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HGBoost is the Best Overall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R² = 0.9922, lowest CV(RMSE) of 8.44%. Bayesian hyperparameter optimization delivers the best cold-start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86584"/>
            <a:ext cx="10911535" cy="8961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864" cy="8961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441448"/>
            <a:ext cx="105457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ML Models Dominate Cold-Start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34056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Top 5 models are all ML-based (R² &gt; 0.99). Tabular feature-engineered models outperform sequence-based DL in this scenario.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10911535" cy="8961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355848"/>
            <a:ext cx="54864" cy="89611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410712"/>
            <a:ext cx="105457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Deep Learning Achieves R² ≈ 0.87–0.91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70332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LSTM leads DL (0.9146). DL requires more diverse training data to match ML in cold-start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25112"/>
            <a:ext cx="10911535" cy="8961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325112"/>
            <a:ext cx="54864" cy="89611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379976"/>
            <a:ext cx="105457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Transfer Learning Shows Promise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672584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Transfer LSTM (R²=0.8866) validates cross-domain knowledge transfer despite limited source diversity.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94376"/>
            <a:ext cx="10911535" cy="8961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294376"/>
            <a:ext cx="54864" cy="8961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5349240"/>
            <a:ext cx="105457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ARIMA &amp; Lasso Fail in Cold-Start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641848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ARIMA (R²=−0.14) and Lasso (R²=0.31) cannot generalize across years. Not suitable for cold-start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Work &amp;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95747" cy="1325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545336"/>
            <a:ext cx="36576" cy="106984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8385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→  Ensemble Stacking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38547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Combine HGBoost + LSTM to leverage both ML and DL strengths.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417320"/>
            <a:ext cx="5295747" cy="1325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5595" y="1545336"/>
            <a:ext cx="36576" cy="10698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0187" y="1527048"/>
            <a:ext cx="48385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 Weather Data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1874519"/>
            <a:ext cx="4838547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Add temperature, humidity, solar radiation for richer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5295747" cy="1325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8" y="3145536"/>
            <a:ext cx="36576" cy="10698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27248"/>
            <a:ext cx="48385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→  Transformer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38547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Replace RNN layers with self-attention for long-range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3017520"/>
            <a:ext cx="5295747" cy="1325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65595" y="3145536"/>
            <a:ext cx="36576" cy="10698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0187" y="3127248"/>
            <a:ext cx="48385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→  Multi-Building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187" y="3474720"/>
            <a:ext cx="4838547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Extend transfer learning across buildings &amp; geographic regions.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5295747" cy="1325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4745736"/>
            <a:ext cx="36576" cy="10698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727448"/>
            <a:ext cx="48385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→  Real-Time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4838547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Online learning pipeline with streaming predictions for smart grids.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5867" y="4617720"/>
            <a:ext cx="5295747" cy="1325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65595" y="4745736"/>
            <a:ext cx="36576" cy="10698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0187" y="4727448"/>
            <a:ext cx="48385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→  Explainability (XAI)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0187" y="5074920"/>
            <a:ext cx="4838547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Apply SHAP / LIME for model interpretability in energy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References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01168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274320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527048"/>
            <a:ext cx="36576" cy="25237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10545775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096D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19656"/>
            <a:ext cx="1054577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CEEW (Council on Energy, Environment and Water) — Smart Meter Data, Mathura, India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Hochreiter &amp; Schmidhuber (1997) — Long Short-Term Memory (LSTM)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Chen &amp; Guestrin (2016) — XGBoost: A Scalable Tree Boosting System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Cho et al. (2014) — Learning Phrase Representations using RNN Encoder–Decoder (GRU)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Yosinski et al. (2014) — How Transferable are Features in Deep Neural Networks?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Box, Jenkins, Reinsel (2015) — Time Series Analysis: ARIMA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10911535" cy="178308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8" y="4498848"/>
            <a:ext cx="36576" cy="1563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480559"/>
            <a:ext cx="10545775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TOOLS &amp;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91456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Python 3.8+  ·  TensorFlow / Keras  ·  scikit-learn  ·  XGBoost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pandas  ·  NumPy  ·  Matplotlib  ·  pmdarima  ·  HGBoost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GitHub Repository: github.com/Nsb05/Cold-Heart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All code is open-source under MIT License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2834640"/>
            <a:ext cx="2743200" cy="3200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900" b="0">
                <a:solidFill>
                  <a:srgbClr val="0096D6"/>
                </a:solidFill>
                <a:latin typeface="Calibri"/>
              </a:defRPr>
            </a:pPr>
            <a:r>
              <a:t>Cold-Start Energy Consumption Prediction for Smart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91695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Neeraj Singh Bisht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github.com/Nsb05/Cold-Heart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1785</Words>
  <Application>Microsoft Office PowerPoint</Application>
  <PresentationFormat>Widescreen</PresentationFormat>
  <Paragraphs>357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Neeraj Singh Bisht</cp:lastModifiedBy>
  <cp:revision>2</cp:revision>
  <dcterms:created xsi:type="dcterms:W3CDTF">2013-01-27T09:14:16Z</dcterms:created>
  <dcterms:modified xsi:type="dcterms:W3CDTF">2026-04-07T18:13:42Z</dcterms:modified>
  <cp:category/>
</cp:coreProperties>
</file>