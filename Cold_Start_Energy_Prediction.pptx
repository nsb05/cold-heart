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6"/>
  </p:notesMasterIdLst>
  <p:sldIdLst>
    <p:sldId id="256" r:id="rId3"/>
    <p:sldId id="497" r:id="rId4"/>
    <p:sldId id="499" r:id="rId5"/>
    <p:sldId id="500" r:id="rId6"/>
    <p:sldId id="501" r:id="rId7"/>
    <p:sldId id="502" r:id="rId8"/>
    <p:sldId id="503" r:id="rId9"/>
    <p:sldId id="504" r:id="rId10"/>
    <p:sldId id="512" r:id="rId11"/>
    <p:sldId id="505" r:id="rId12"/>
    <p:sldId id="506" r:id="rId13"/>
    <p:sldId id="507" r:id="rId14"/>
    <p:sldId id="269" r:id="rId15"/>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1" userDrawn="1">
          <p15:clr>
            <a:srgbClr val="A4A3A4"/>
          </p15:clr>
        </p15:guide>
        <p15:guide id="2" pos="28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37" autoAdjust="0"/>
    <p:restoredTop sz="94660"/>
  </p:normalViewPr>
  <p:slideViewPr>
    <p:cSldViewPr showGuides="1">
      <p:cViewPr varScale="1">
        <p:scale>
          <a:sx n="78" d="100"/>
          <a:sy n="78" d="100"/>
        </p:scale>
        <p:origin x="1099" y="62"/>
      </p:cViewPr>
      <p:guideLst>
        <p:guide orient="horz" pos="2151"/>
        <p:guide pos="2852"/>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09-03-2026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6</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BE92-2836-2377-AC03-A2DE9BD92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C9794-528F-622F-43DD-4480761AC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0C919C-92B7-D9DB-548B-F07A4AA3A29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3746616-91E6-EEB7-1856-D004D3BB5C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96527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10</a:t>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11</a:t>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09-03-2026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09-03-2026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09-03-2026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0453375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2145642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4241862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0698833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09-03-2026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5273293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09-03-2026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3015818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09-03-2026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6872268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667415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581965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1352987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95207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09-03-2026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09-03-2026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3338032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4260" y="-27384"/>
            <a:ext cx="9180512" cy="6885384"/>
          </a:xfrm>
        </p:spPr>
      </p:pic>
      <p:cxnSp>
        <p:nvCxnSpPr>
          <p:cNvPr id="11" name="Straight Connector 10"/>
          <p:cNvCxnSpPr/>
          <p:nvPr/>
        </p:nvCxnSpPr>
        <p:spPr>
          <a:xfrm>
            <a:off x="1520415" y="2060848"/>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36440" y="2219553"/>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panose="020B0604020202020204"/>
              </a:rPr>
              <a:t>Final Year Project Synopsis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panose="020B0604020202020204"/>
              </a:rPr>
              <a:t>Submitted by</a:t>
            </a:r>
          </a:p>
        </p:txBody>
      </p:sp>
      <p:graphicFrame>
        <p:nvGraphicFramePr>
          <p:cNvPr id="2" name="Table 2"/>
          <p:cNvGraphicFramePr>
            <a:graphicFrameLocks noGrp="1"/>
          </p:cNvGraphicFramePr>
          <p:nvPr/>
        </p:nvGraphicFramePr>
        <p:xfrm>
          <a:off x="1696134" y="3086002"/>
          <a:ext cx="6096000" cy="11125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dirty="0"/>
                        <a:t>ROLL</a:t>
                      </a:r>
                    </a:p>
                  </a:txBody>
                  <a:tcPr/>
                </a:tc>
                <a:tc>
                  <a:txBody>
                    <a:bodyPr/>
                    <a:lstStyle/>
                    <a:p>
                      <a:pPr algn="ctr"/>
                      <a:r>
                        <a:rPr lang="en-US" dirty="0"/>
                        <a:t>NAME</a:t>
                      </a:r>
                    </a:p>
                  </a:txBody>
                  <a:tcPr/>
                </a:tc>
                <a:extLst>
                  <a:ext uri="{0D108BD9-81ED-4DB2-BD59-A6C34878D82A}">
                    <a16:rowId xmlns:a16="http://schemas.microsoft.com/office/drawing/2014/main" val="10000"/>
                  </a:ext>
                </a:extLst>
              </a:tr>
              <a:tr h="370840">
                <a:tc>
                  <a:txBody>
                    <a:bodyPr/>
                    <a:lstStyle/>
                    <a:p>
                      <a:pPr algn="ctr"/>
                      <a:r>
                        <a:rPr lang="en-US" dirty="0"/>
                        <a:t>2201730013</a:t>
                      </a:r>
                    </a:p>
                  </a:txBody>
                  <a:tcPr/>
                </a:tc>
                <a:tc>
                  <a:txBody>
                    <a:bodyPr/>
                    <a:lstStyle/>
                    <a:p>
                      <a:pPr algn="ctr"/>
                      <a:r>
                        <a:rPr lang="en-US" dirty="0"/>
                        <a:t>Neeraj Singh Bisht</a:t>
                      </a:r>
                    </a:p>
                  </a:txBody>
                  <a:tcPr/>
                </a:tc>
                <a:extLst>
                  <a:ext uri="{0D108BD9-81ED-4DB2-BD59-A6C34878D82A}">
                    <a16:rowId xmlns:a16="http://schemas.microsoft.com/office/drawing/2014/main" val="10001"/>
                  </a:ext>
                </a:extLst>
              </a:tr>
              <a:tr h="370840">
                <a:tc>
                  <a:txBody>
                    <a:bodyPr/>
                    <a:lstStyle/>
                    <a:p>
                      <a:pPr algn="ctr"/>
                      <a:r>
                        <a:rPr lang="en-US" dirty="0"/>
                        <a:t>2201730036</a:t>
                      </a:r>
                    </a:p>
                  </a:txBody>
                  <a:tcPr/>
                </a:tc>
                <a:tc>
                  <a:txBody>
                    <a:bodyPr/>
                    <a:lstStyle/>
                    <a:p>
                      <a:pPr algn="ctr"/>
                      <a:r>
                        <a:rPr lang="en-US" dirty="0"/>
                        <a:t>Amber Paul</a:t>
                      </a:r>
                    </a:p>
                  </a:txBody>
                  <a:tcPr/>
                </a:tc>
                <a:extLst>
                  <a:ext uri="{0D108BD9-81ED-4DB2-BD59-A6C34878D82A}">
                    <a16:rowId xmlns:a16="http://schemas.microsoft.com/office/drawing/2014/main" val="10002"/>
                  </a:ext>
                </a:extLst>
              </a:tr>
            </a:tbl>
          </a:graphicData>
        </a:graphic>
      </p:graphicFrame>
      <p:sp>
        <p:nvSpPr>
          <p:cNvPr id="5" name="TextBox 4"/>
          <p:cNvSpPr txBox="1"/>
          <p:nvPr/>
        </p:nvSpPr>
        <p:spPr>
          <a:xfrm>
            <a:off x="1352457" y="1324467"/>
            <a:ext cx="6783353" cy="707886"/>
          </a:xfrm>
          <a:prstGeom prst="rect">
            <a:avLst/>
          </a:prstGeom>
          <a:noFill/>
        </p:spPr>
        <p:txBody>
          <a:bodyPr wrap="square">
            <a:spAutoFit/>
          </a:bodyPr>
          <a:lstStyle/>
          <a:p>
            <a:pPr lvl="0" algn="ctr">
              <a:buSzPct val="25000"/>
            </a:pPr>
            <a:r>
              <a:rPr lang="en-US" sz="4000" b="1" dirty="0">
                <a:solidFill>
                  <a:srgbClr val="C00000"/>
                </a:solidFill>
                <a:ea typeface="Cambria" panose="02040503050406030204" pitchFamily="18" charset="0"/>
                <a:cs typeface="Times New Roman" panose="02020603050405020304" pitchFamily="18" charset="0"/>
                <a:sym typeface="Arial" panose="020B0604020202020204"/>
              </a:rPr>
              <a:t>C</a:t>
            </a:r>
            <a:r>
              <a:rPr lang="en-IN" sz="4000" b="1" dirty="0">
                <a:solidFill>
                  <a:srgbClr val="C00000"/>
                </a:solidFill>
                <a:ea typeface="Cambria" panose="02040503050406030204" pitchFamily="18" charset="0"/>
                <a:cs typeface="Times New Roman" panose="02020603050405020304" pitchFamily="18" charset="0"/>
                <a:sym typeface="Arial" panose="020B0604020202020204"/>
              </a:rPr>
              <a:t>old Start Energy Prediction</a:t>
            </a:r>
          </a:p>
        </p:txBody>
      </p:sp>
      <p:sp>
        <p:nvSpPr>
          <p:cNvPr id="8" name="TextBox 7"/>
          <p:cNvSpPr txBox="1"/>
          <p:nvPr/>
        </p:nvSpPr>
        <p:spPr>
          <a:xfrm>
            <a:off x="236440" y="5733256"/>
            <a:ext cx="8584032" cy="368300"/>
          </a:xfrm>
          <a:prstGeom prst="rect">
            <a:avLst/>
          </a:prstGeom>
          <a:noFill/>
        </p:spPr>
        <p:txBody>
          <a:bodyPr wrap="square">
            <a:spAutoFit/>
          </a:bodyPr>
          <a:lstStyle/>
          <a:p>
            <a:pPr lvl="0">
              <a:buSzPct val="25000"/>
            </a:pPr>
            <a:r>
              <a:rPr lang="en-IN" b="1" dirty="0">
                <a:solidFill>
                  <a:srgbClr val="0070C0"/>
                </a:solidFill>
                <a:ea typeface="Cambria" panose="02040503050406030204" pitchFamily="18" charset="0"/>
                <a:cs typeface="Times New Roman" panose="02020603050405020304" pitchFamily="18" charset="0"/>
                <a:sym typeface="Arial" panose="020B0604020202020204"/>
              </a:rPr>
              <a:t>Faculty Mentor:</a:t>
            </a:r>
            <a:r>
              <a:rPr lang="en-IN" sz="1800" b="1" dirty="0">
                <a:solidFill>
                  <a:srgbClr val="0070C0"/>
                </a:solidFill>
                <a:ea typeface="Cambria" panose="02040503050406030204" pitchFamily="18" charset="0"/>
                <a:cs typeface="Times New Roman" panose="02020603050405020304" pitchFamily="18" charset="0"/>
                <a:sym typeface="Arial" panose="020B0604020202020204"/>
              </a:rPr>
              <a:t> </a:t>
            </a:r>
            <a:r>
              <a:rPr lang="en-US" altLang="en-IN" sz="1800" b="1" dirty="0">
                <a:solidFill>
                  <a:srgbClr val="0070C0"/>
                </a:solidFill>
                <a:ea typeface="Cambria" panose="02040503050406030204" pitchFamily="18" charset="0"/>
                <a:cs typeface="Times New Roman" panose="02020603050405020304" pitchFamily="18" charset="0"/>
                <a:sym typeface="Arial" panose="020B0604020202020204"/>
              </a:rPr>
              <a:t>Ms. Neetu Chauhan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 Box 1"/>
          <p:cNvSpPr txBox="1"/>
          <p:nvPr/>
        </p:nvSpPr>
        <p:spPr>
          <a:xfrm>
            <a:off x="437720" y="1555033"/>
            <a:ext cx="8261985" cy="3631763"/>
          </a:xfrm>
          <a:prstGeom prst="rect">
            <a:avLst/>
          </a:prstGeom>
        </p:spPr>
        <p:txBody>
          <a:bodyPr wrap="square" lIns="91440" tIns="45720" rIns="91440" bIns="45720" anchor="t">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project focuses on predicting short-term electricity consumption in smart buildings using machine learning and deep learning techniques. Accurate energy forecasting is essential for efficient energy management, especially in cold-start scenarios where little or no historical data is available for a building or device.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study uses high-frequency smart meter data collected at three-minute intervals to analyze energy usage patterns and develop predictive models.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Several models were implemented and evaluated, including Linear Regression, </a:t>
            </a: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 and Long Short-Term Memory (LSTM) networks. These models were trained to capture both linear relationships and complex temporal patterns present in energy consumption data. The project also involves data preprocessing, feature engineering, and performance evaluation using metrics such as MAE, RMSE, and R².</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results provide insights into how different modeling approaches perform in cold-start energy prediction and demonstrate how machine learning can support smarter and more efficient building energy management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543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Specific Objectives</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236207"/>
          </a:xfrm>
          <a:prstGeom prst="rect">
            <a:avLst/>
          </a:prstGeom>
          <a:noFill/>
        </p:spPr>
        <p:txBody>
          <a:bodyPr wrap="square">
            <a:spAutoFit/>
          </a:bodyPr>
          <a:lstStyle/>
          <a:p>
            <a:pPr marL="285750" marR="0" indent="-285750" algn="just" fontAlgn="base">
              <a:lnSpc>
                <a:spcPct val="107000"/>
              </a:lnSpc>
              <a:spcBef>
                <a:spcPts val="0"/>
              </a:spcBef>
              <a:spcAft>
                <a:spcPts val="0"/>
              </a:spcAft>
              <a:buFont typeface="Arial" panose="020B0604020202020204" pitchFamily="34" charset="0"/>
              <a:buChar char="•"/>
            </a:pPr>
            <a:r>
              <a:rPr lang="en-US"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analyze smart meter energy consumption data and understand usage patterns in buildings.</a:t>
            </a:r>
          </a:p>
          <a:p>
            <a:pPr marL="285750" marR="0" indent="-285750" algn="just" fontAlgn="base">
              <a:lnSpc>
                <a:spcPct val="107000"/>
              </a:lnSpc>
              <a:spcBef>
                <a:spcPts val="0"/>
              </a:spcBef>
              <a:spcAft>
                <a:spcPts val="0"/>
              </a:spcAft>
              <a:buFont typeface="Arial" panose="020B0604020202020204" pitchFamily="34" charset="0"/>
              <a:buChar char="•"/>
            </a:pPr>
            <a:r>
              <a:rPr lang="en-US"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address the cold-start energy prediction problem, where limited historical data is available for accurate forecasting.</a:t>
            </a:r>
          </a:p>
          <a:p>
            <a:pPr marL="285750" marR="0" indent="-285750" algn="just" fontAlgn="base">
              <a:lnSpc>
                <a:spcPct val="107000"/>
              </a:lnSpc>
              <a:spcBef>
                <a:spcPts val="0"/>
              </a:spcBef>
              <a:spcAft>
                <a:spcPts val="0"/>
              </a:spcAft>
              <a:buFont typeface="Arial" panose="020B0604020202020204" pitchFamily="34" charset="0"/>
              <a:buChar char="•"/>
            </a:pPr>
            <a:r>
              <a:rPr lang="en-US"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preprocess and clean the dataset to make it suitable for machine learning and deep learning models.</a:t>
            </a:r>
          </a:p>
          <a:p>
            <a:pPr marL="285750" marR="0" indent="-285750" algn="just" fontAlgn="base">
              <a:lnSpc>
                <a:spcPct val="107000"/>
              </a:lnSpc>
              <a:spcBef>
                <a:spcPts val="0"/>
              </a:spcBef>
              <a:spcAft>
                <a:spcPts val="0"/>
              </a:spcAft>
              <a:buFont typeface="Arial" panose="020B0604020202020204" pitchFamily="34" charset="0"/>
              <a:buChar char="•"/>
            </a:pPr>
            <a:r>
              <a:rPr lang="en-US"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implement and compare different predictive models, including Linear Regression, </a:t>
            </a:r>
            <a:r>
              <a:rPr lang="en-US" sz="16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XGBoost</a:t>
            </a:r>
            <a:r>
              <a:rPr lang="en-US"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and LSTM, for energy consumption forecasting.</a:t>
            </a:r>
          </a:p>
          <a:p>
            <a:pPr marL="285750" marR="0" indent="-285750" algn="just" fontAlgn="base">
              <a:lnSpc>
                <a:spcPct val="107000"/>
              </a:lnSpc>
              <a:spcBef>
                <a:spcPts val="0"/>
              </a:spcBef>
              <a:spcAft>
                <a:spcPts val="0"/>
              </a:spcAft>
              <a:buFont typeface="Arial" panose="020B0604020202020204" pitchFamily="34" charset="0"/>
              <a:buChar char="•"/>
            </a:pPr>
            <a:r>
              <a:rPr lang="en-US"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evaluate model performance using metrics such as MAE, RMSE, and R² to determine prediction accuracy.</a:t>
            </a:r>
          </a:p>
          <a:p>
            <a:pPr marL="285750" marR="0" indent="-285750" algn="just" fontAlgn="base">
              <a:lnSpc>
                <a:spcPct val="107000"/>
              </a:lnSpc>
              <a:spcBef>
                <a:spcPts val="0"/>
              </a:spcBef>
              <a:spcAft>
                <a:spcPts val="0"/>
              </a:spcAft>
              <a:buFont typeface="Arial" panose="020B0604020202020204" pitchFamily="34" charset="0"/>
              <a:buChar char="•"/>
            </a:pPr>
            <a:r>
              <a:rPr lang="en-US"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identify the most effective model for short-term energy prediction in cold-start scenarios.</a:t>
            </a:r>
          </a:p>
          <a:p>
            <a:pPr marL="285750" marR="0" indent="-285750" algn="just" fontAlgn="base">
              <a:lnSpc>
                <a:spcPct val="107000"/>
              </a:lnSpc>
              <a:spcBef>
                <a:spcPts val="0"/>
              </a:spcBef>
              <a:spcAft>
                <a:spcPts val="0"/>
              </a:spcAft>
              <a:buFont typeface="Arial" panose="020B0604020202020204" pitchFamily="34" charset="0"/>
              <a:buChar char="•"/>
            </a:pPr>
            <a:r>
              <a:rPr lang="en-US"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demonstrate how machine learning techniques can contribute to efficient energy management in smart buildings.</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 Box 1"/>
          <p:cNvSpPr txBox="1"/>
          <p:nvPr/>
        </p:nvSpPr>
        <p:spPr>
          <a:xfrm>
            <a:off x="520680" y="1482520"/>
            <a:ext cx="8134985" cy="4608830"/>
          </a:xfrm>
          <a:prstGeom prst="rect">
            <a:avLst/>
          </a:prstGeom>
        </p:spPr>
        <p:txBody>
          <a:bodyPr lIns="91440" tIns="45720" rIns="91440" bIns="45720" anchor="t">
            <a:noAutofit/>
          </a:bodyPr>
          <a:lstStyle/>
          <a:p>
            <a:pPr marL="285750" indent="-285750" algn="just">
              <a:buFont typeface="Arial" panose="020B0604020202020204"/>
              <a:buChar char="•"/>
            </a:pPr>
            <a:endParaRPr sz="1600" dirty="0">
              <a:latin typeface="Times New Roman" panose="02020603050405020304"/>
              <a:cs typeface="Time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Key Features</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 Box 1"/>
          <p:cNvSpPr txBox="1"/>
          <p:nvPr/>
        </p:nvSpPr>
        <p:spPr>
          <a:xfrm>
            <a:off x="476578" y="1673409"/>
            <a:ext cx="8230235" cy="4108450"/>
          </a:xfrm>
          <a:prstGeom prst="rect">
            <a:avLst/>
          </a:prstGeom>
        </p:spPr>
        <p:txBody>
          <a:bodyPr wrap="square" lIns="91440" tIns="45720" rIns="91440" bIns="45720" anchor="t">
            <a:noAutofit/>
          </a:bodyPr>
          <a:lstStyle/>
          <a:p>
            <a:pPr algn="just">
              <a:buFont typeface="Arial" panose="020B0604020202020204"/>
              <a:buChar char="•"/>
            </a:pPr>
            <a:endParaRPr lang="en-US" sz="1600" dirty="0">
              <a:latin typeface="Times New Roman" panose="02020603050405020304"/>
              <a:cs typeface="Times New Roman" panose="02020603050405020304"/>
            </a:endParaRPr>
          </a:p>
        </p:txBody>
      </p:sp>
      <p:sp>
        <p:nvSpPr>
          <p:cNvPr id="10" name="TextBox 9">
            <a:extLst>
              <a:ext uri="{FF2B5EF4-FFF2-40B4-BE49-F238E27FC236}">
                <a16:creationId xmlns:a16="http://schemas.microsoft.com/office/drawing/2014/main" id="{2F81896B-8104-A3C9-DEE0-C4BC252D5D55}"/>
              </a:ext>
            </a:extLst>
          </p:cNvPr>
          <p:cNvSpPr txBox="1"/>
          <p:nvPr/>
        </p:nvSpPr>
        <p:spPr>
          <a:xfrm>
            <a:off x="437187" y="1403124"/>
            <a:ext cx="8455293" cy="3970318"/>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High-Resolution Energy Data</a:t>
            </a:r>
            <a:r>
              <a:rPr lang="en-US" dirty="0">
                <a:latin typeface="Times New Roman" panose="02020603050405020304" pitchFamily="18" charset="0"/>
                <a:cs typeface="Times New Roman" panose="02020603050405020304" pitchFamily="18" charset="0"/>
              </a:rPr>
              <a:t> – Utilizes smart meter data recorded at 3-minute intervals, enabling detailed analysis of energy consumption patterns.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Cold-Start Prediction Focus</a:t>
            </a:r>
            <a:r>
              <a:rPr lang="en-US" dirty="0">
                <a:latin typeface="Times New Roman" panose="02020603050405020304" pitchFamily="18" charset="0"/>
                <a:cs typeface="Times New Roman" panose="02020603050405020304" pitchFamily="18" charset="0"/>
              </a:rPr>
              <a:t> – Addresses the challenge of predicting energy usage when limited historical data is available.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Multiple Machine Learning Models</a:t>
            </a:r>
            <a:r>
              <a:rPr lang="en-US" dirty="0">
                <a:latin typeface="Times New Roman" panose="02020603050405020304" pitchFamily="18" charset="0"/>
                <a:cs typeface="Times New Roman" panose="02020603050405020304" pitchFamily="18" charset="0"/>
              </a:rPr>
              <a:t> – Implements and compares Linear Regression,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LSTM models to evaluate different prediction approaches.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Preprocessing Pipeline</a:t>
            </a:r>
            <a:r>
              <a:rPr lang="en-US" dirty="0">
                <a:latin typeface="Times New Roman" panose="02020603050405020304" pitchFamily="18" charset="0"/>
                <a:cs typeface="Times New Roman" panose="02020603050405020304" pitchFamily="18" charset="0"/>
              </a:rPr>
              <a:t> – Includes data cleaning, feature engineering, and normalization to improve model performance.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Time-Series Forecasting</a:t>
            </a:r>
            <a:r>
              <a:rPr lang="en-US" dirty="0">
                <a:latin typeface="Times New Roman" panose="02020603050405020304" pitchFamily="18" charset="0"/>
                <a:cs typeface="Times New Roman" panose="02020603050405020304" pitchFamily="18" charset="0"/>
              </a:rPr>
              <a:t> – Uses sequential modeling techniques to capture temporal dependencies in energy consumption data.</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Performance Evaluation</a:t>
            </a:r>
            <a:r>
              <a:rPr lang="en-US" dirty="0">
                <a:latin typeface="Times New Roman" panose="02020603050405020304" pitchFamily="18" charset="0"/>
                <a:cs typeface="Times New Roman" panose="02020603050405020304" pitchFamily="18" charset="0"/>
              </a:rPr>
              <a:t> – Assesses models using standard metrics such as MAE, RMSE, and R² for reliable comparison.</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Scalable Approach</a:t>
            </a:r>
            <a:r>
              <a:rPr lang="en-US" dirty="0">
                <a:latin typeface="Times New Roman" panose="02020603050405020304" pitchFamily="18" charset="0"/>
                <a:cs typeface="Times New Roman" panose="02020603050405020304" pitchFamily="18" charset="0"/>
              </a:rPr>
              <a:t> – Designed so the methodology can be extended to other smart building energy datasets and forecasting applications.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61173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a:t>
            </a:r>
            <a:r>
              <a:rPr lang="en-US" sz="3200" b="1" kern="100" dirty="0" err="1">
                <a:effectLst/>
                <a:latin typeface="Verdana" panose="020B0604030504040204" pitchFamily="34" charset="0"/>
                <a:ea typeface="Times New Roman" panose="02020603050405020304" pitchFamily="18" charset="0"/>
                <a:cs typeface="Times New Roman" panose="02020603050405020304" pitchFamily="18" charset="0"/>
              </a:rPr>
              <a:t>Usecases</a:t>
            </a: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 &amp; Scope</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 Box 1"/>
          <p:cNvSpPr txBox="1"/>
          <p:nvPr/>
        </p:nvSpPr>
        <p:spPr>
          <a:xfrm>
            <a:off x="458142" y="1667633"/>
            <a:ext cx="8258810" cy="4123055"/>
          </a:xfrm>
          <a:prstGeom prst="rect">
            <a:avLst/>
          </a:prstGeom>
        </p:spPr>
        <p:txBody>
          <a:bodyPr wrap="square" lIns="91440" tIns="45720" rIns="91440" bIns="45720" anchor="t">
            <a:noAutofit/>
          </a:bodyPr>
          <a:lstStyle/>
          <a:p>
            <a:pPr marL="285750" indent="-285750" algn="just">
              <a:buFont typeface="Arial" panose="020B0604020202020204"/>
              <a:buChar char="•"/>
            </a:pPr>
            <a:r>
              <a:rPr lang="en-US" sz="1600" b="1" dirty="0">
                <a:latin typeface="Times New Roman" panose="02020603050405020304"/>
                <a:cs typeface="Times New Roman" panose="02020603050405020304"/>
              </a:rPr>
              <a:t>Smart Building Management</a:t>
            </a:r>
            <a:r>
              <a:rPr lang="en-US" sz="1600" dirty="0">
                <a:latin typeface="Times New Roman" panose="02020603050405020304"/>
                <a:cs typeface="Times New Roman" panose="02020603050405020304"/>
              </a:rPr>
              <a:t>: Predicts short-term electricity consumption to help optimize energy usage in buildings.</a:t>
            </a:r>
          </a:p>
          <a:p>
            <a:pPr marL="285750" indent="-285750" algn="just">
              <a:buFont typeface="Arial" panose="020B0604020202020204"/>
              <a:buChar char="•"/>
            </a:pPr>
            <a:r>
              <a:rPr lang="en-US" sz="1600" b="1" dirty="0">
                <a:latin typeface="Times New Roman" panose="02020603050405020304"/>
                <a:cs typeface="Times New Roman" panose="02020603050405020304"/>
              </a:rPr>
              <a:t>Cold-Start Energy Prediction</a:t>
            </a:r>
            <a:r>
              <a:rPr lang="en-US" sz="1600" dirty="0">
                <a:latin typeface="Times New Roman" panose="02020603050405020304"/>
                <a:cs typeface="Times New Roman" panose="02020603050405020304"/>
              </a:rPr>
              <a:t>: Provides forecasts even when only limited historical energy data is available.</a:t>
            </a:r>
          </a:p>
          <a:p>
            <a:pPr marL="285750" indent="-285750" algn="just">
              <a:buFont typeface="Arial" panose="020B0604020202020204"/>
              <a:buChar char="•"/>
            </a:pPr>
            <a:r>
              <a:rPr lang="en-US" sz="1600" b="1" dirty="0">
                <a:latin typeface="Times New Roman" panose="02020603050405020304"/>
                <a:cs typeface="Times New Roman" panose="02020603050405020304"/>
              </a:rPr>
              <a:t>Energy Demand Forecasting</a:t>
            </a:r>
            <a:r>
              <a:rPr lang="en-US" sz="1600" dirty="0">
                <a:latin typeface="Times New Roman" panose="02020603050405020304"/>
                <a:cs typeface="Times New Roman" panose="02020603050405020304"/>
              </a:rPr>
              <a:t>: Helps utility providers estimate power demand for better load balancing and grid stability.</a:t>
            </a:r>
          </a:p>
          <a:p>
            <a:pPr marL="285750" indent="-285750" algn="just">
              <a:buFont typeface="Arial" panose="020B0604020202020204"/>
              <a:buChar char="•"/>
            </a:pPr>
            <a:r>
              <a:rPr lang="en-US" sz="1600" b="1" dirty="0">
                <a:latin typeface="Times New Roman" panose="02020603050405020304"/>
                <a:cs typeface="Times New Roman" panose="02020603050405020304"/>
              </a:rPr>
              <a:t>Energy Efficiency Improvement</a:t>
            </a:r>
            <a:r>
              <a:rPr lang="en-US" sz="1600" dirty="0">
                <a:latin typeface="Times New Roman" panose="02020603050405020304"/>
                <a:cs typeface="Times New Roman" panose="02020603050405020304"/>
              </a:rPr>
              <a:t>: Identifies patterns in energy usage to support strategies for reducing power wastage.</a:t>
            </a:r>
          </a:p>
          <a:p>
            <a:pPr marL="285750" indent="-285750" algn="just">
              <a:buFont typeface="Arial" panose="020B0604020202020204"/>
              <a:buChar char="•"/>
            </a:pPr>
            <a:r>
              <a:rPr lang="en-US" sz="1600" b="1" dirty="0">
                <a:latin typeface="Times New Roman" panose="02020603050405020304"/>
                <a:cs typeface="Times New Roman" panose="02020603050405020304"/>
              </a:rPr>
              <a:t>Model Comparison</a:t>
            </a:r>
            <a:r>
              <a:rPr lang="en-US" sz="1600" dirty="0">
                <a:latin typeface="Times New Roman" panose="02020603050405020304"/>
                <a:cs typeface="Times New Roman" panose="02020603050405020304"/>
              </a:rPr>
              <a:t>: Evaluates different approaches such as Linear Regression, </a:t>
            </a:r>
            <a:r>
              <a:rPr lang="en-US" sz="1600" dirty="0" err="1">
                <a:latin typeface="Times New Roman" panose="02020603050405020304"/>
                <a:cs typeface="Times New Roman" panose="02020603050405020304"/>
              </a:rPr>
              <a:t>XGBoost</a:t>
            </a:r>
            <a:r>
              <a:rPr lang="en-US" sz="1600" dirty="0">
                <a:latin typeface="Times New Roman" panose="02020603050405020304"/>
                <a:cs typeface="Times New Roman" panose="02020603050405020304"/>
              </a:rPr>
              <a:t>, and LSTM for accurate prediction.</a:t>
            </a:r>
          </a:p>
          <a:p>
            <a:pPr marL="285750" indent="-285750" algn="just">
              <a:buFont typeface="Arial" panose="020B0604020202020204"/>
              <a:buChar char="•"/>
            </a:pPr>
            <a:r>
              <a:rPr lang="en-US" sz="1600" b="1" dirty="0">
                <a:latin typeface="Times New Roman" panose="02020603050405020304"/>
                <a:cs typeface="Times New Roman" panose="02020603050405020304"/>
              </a:rPr>
              <a:t>Scalable Framework</a:t>
            </a:r>
            <a:r>
              <a:rPr lang="en-US" sz="1600" dirty="0">
                <a:latin typeface="Times New Roman" panose="02020603050405020304"/>
                <a:cs typeface="Times New Roman" panose="02020603050405020304"/>
              </a:rPr>
              <a:t>: The methodology can be extended to smart grids, IoT-based energy monitoring systems, and larger datasets.</a:t>
            </a:r>
          </a:p>
          <a:p>
            <a:pPr marL="285750" indent="-285750" algn="just">
              <a:buFont typeface="Arial" panose="020B0604020202020204"/>
              <a:buChar char="•"/>
            </a:pPr>
            <a:r>
              <a:rPr lang="en-US" sz="1600" b="1" dirty="0">
                <a:latin typeface="Times New Roman" panose="02020603050405020304"/>
                <a:cs typeface="Times New Roman" panose="02020603050405020304"/>
              </a:rPr>
              <a:t>Future Expansion</a:t>
            </a:r>
            <a:r>
              <a:rPr lang="en-US" sz="1600" dirty="0">
                <a:latin typeface="Times New Roman" panose="02020603050405020304"/>
                <a:cs typeface="Times New Roman" panose="02020603050405020304"/>
              </a:rPr>
              <a:t>: Can be enhanced with real-time prediction systems and additional deep learning models for improved performance.</a:t>
            </a:r>
            <a:endParaRPr sz="1600" dirty="0">
              <a:latin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7132" y="134661"/>
            <a:ext cx="835530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2800" b="1" kern="100" dirty="0">
                <a:effectLst/>
                <a:latin typeface="Verdana" panose="020B0604030504040204" pitchFamily="34" charset="0"/>
                <a:ea typeface="Times New Roman" panose="02020603050405020304" pitchFamily="18" charset="0"/>
                <a:cs typeface="Times New Roman" panose="02020603050405020304" pitchFamily="18" charset="0"/>
              </a:rPr>
              <a:t>Prototype/Project Flow    diagram/Architecture</a:t>
            </a:r>
            <a:endParaRPr lang="en-IN" sz="28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FFB3AF71-1A14-0463-D9BB-4D522C9DCA76}"/>
              </a:ext>
            </a:extLst>
          </p:cNvPr>
          <p:cNvPicPr>
            <a:picLocks noChangeAspect="1"/>
          </p:cNvPicPr>
          <p:nvPr/>
        </p:nvPicPr>
        <p:blipFill>
          <a:blip r:embed="rId5"/>
          <a:stretch>
            <a:fillRect/>
          </a:stretch>
        </p:blipFill>
        <p:spPr>
          <a:xfrm>
            <a:off x="1546473" y="1088768"/>
            <a:ext cx="5616624" cy="509477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Data &amp; Resources</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p:cNvSpPr txBox="1"/>
          <p:nvPr/>
        </p:nvSpPr>
        <p:spPr>
          <a:xfrm>
            <a:off x="828770" y="1717510"/>
            <a:ext cx="7344816" cy="3416320"/>
          </a:xfrm>
          <a:prstGeom prst="rect">
            <a:avLst/>
          </a:prstGeom>
          <a:noFill/>
        </p:spPr>
        <p:txBody>
          <a:bodyPr wrap="square" lIns="91440" tIns="45720" rIns="91440" bIns="45720" anchor="t">
            <a:spAutoFit/>
          </a:bodyPr>
          <a:lstStyle/>
          <a:p>
            <a:pPr marL="285750" indent="-285750" algn="jus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Dataset: Smart meter electricity consumption data from CEEW (Council on Energy, Environment and Water).</a:t>
            </a:r>
          </a:p>
          <a:p>
            <a:pPr marL="285750" indent="-285750" algn="jus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Location &amp; Period: Data collected from households in Mathura, India (2020).</a:t>
            </a:r>
          </a:p>
          <a:p>
            <a:pPr marL="285750" indent="-285750" algn="jus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Data Frequency: Energy readings recorded at 3-minute intervals, enabling detailed time-series analysis.</a:t>
            </a:r>
          </a:p>
          <a:p>
            <a:pPr marL="285750" indent="-285750" algn="jus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Data Attributes: Includes timestamp, electricity consumption values, and related time-based features.</a:t>
            </a:r>
          </a:p>
          <a:p>
            <a:pPr marL="285750" indent="-285750" algn="jus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Tools &amp; Technologies: Python, </a:t>
            </a:r>
            <a:r>
              <a:rPr lang="en-US" altLang="en-US" sz="1600" dirty="0" err="1">
                <a:latin typeface="Times New Roman" panose="02020603050405020304" pitchFamily="18" charset="0"/>
                <a:cs typeface="Times New Roman" panose="02020603050405020304" pitchFamily="18" charset="0"/>
              </a:rPr>
              <a:t>Jupyter</a:t>
            </a:r>
            <a:r>
              <a:rPr lang="en-US" altLang="en-US" sz="1600" dirty="0">
                <a:latin typeface="Times New Roman" panose="02020603050405020304" pitchFamily="18" charset="0"/>
                <a:cs typeface="Times New Roman" panose="02020603050405020304" pitchFamily="18" charset="0"/>
              </a:rPr>
              <a:t> Notebook, and machine learning libraries such as Pandas, NumPy, Scikit-learn, TensorFlow/</a:t>
            </a:r>
            <a:r>
              <a:rPr lang="en-US" altLang="en-US" sz="1600" dirty="0" err="1">
                <a:latin typeface="Times New Roman" panose="02020603050405020304" pitchFamily="18" charset="0"/>
                <a:cs typeface="Times New Roman" panose="02020603050405020304" pitchFamily="18" charset="0"/>
              </a:rPr>
              <a:t>Keras</a:t>
            </a:r>
            <a:r>
              <a:rPr lang="en-US" altLang="en-US" sz="1600" dirty="0">
                <a:latin typeface="Times New Roman" panose="02020603050405020304" pitchFamily="18" charset="0"/>
                <a:cs typeface="Times New Roman" panose="02020603050405020304" pitchFamily="18" charset="0"/>
              </a:rPr>
              <a:t>, and </a:t>
            </a:r>
            <a:r>
              <a:rPr lang="en-US" altLang="en-US" sz="1600" dirty="0" err="1">
                <a:latin typeface="Times New Roman" panose="02020603050405020304" pitchFamily="18" charset="0"/>
                <a:cs typeface="Times New Roman" panose="02020603050405020304" pitchFamily="18" charset="0"/>
              </a:rPr>
              <a:t>XGBoost</a:t>
            </a:r>
            <a:r>
              <a:rPr lang="en-US" altLang="en-US" sz="1600"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Development Platform: Code and project files managed using GitHub for collaboration and version control.</a:t>
            </a:r>
          </a:p>
          <a:p>
            <a:pPr marL="285750" indent="-285750" algn="jus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Hardware Requirements: Standard computer system capable of running Python-based ML models and data processing tasks.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33F2B-4274-D144-7093-B867F4CB379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9527858-67DE-3DF8-FF01-8DB1846AEB1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D2CBC630-DA86-8B5C-8CF1-BBD133225A5E}"/>
              </a:ext>
            </a:extLst>
          </p:cNvPr>
          <p:cNvSpPr>
            <a:spLocks noChangeArrowheads="1"/>
          </p:cNvSpPr>
          <p:nvPr/>
        </p:nvSpPr>
        <p:spPr bwMode="auto">
          <a:xfrm>
            <a:off x="179512" y="244288"/>
            <a:ext cx="56886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3200" b="1" i="0" u="none" strike="noStrike" kern="100" cap="none" spc="0" normalizeH="0" baseline="0" noProof="0" dirty="0">
                <a:ln>
                  <a:noFill/>
                </a:ln>
                <a:solidFill>
                  <a:prstClr val="black"/>
                </a:solidFill>
                <a:effectLst/>
                <a:uLnTx/>
                <a:uFillTx/>
                <a:latin typeface="Verdana" panose="020B0604030504040204" pitchFamily="34" charset="0"/>
                <a:ea typeface="+mn-ea"/>
                <a:cs typeface="Times New Roman" panose="02020603050405020304" pitchFamily="18" charset="0"/>
                <a:sym typeface="Arial"/>
              </a:rPr>
              <a:t>Progress Summary</a:t>
            </a:r>
            <a:endParaRPr kumimoji="0" lang="en-IN" sz="3200" b="1" i="0" u="none" strike="noStrike" kern="1200" cap="none" spc="0" normalizeH="0" baseline="0" noProof="0" dirty="0">
              <a:ln>
                <a:noFill/>
              </a:ln>
              <a:solidFill>
                <a:prstClr val="black"/>
              </a:solidFill>
              <a:effectLst/>
              <a:uLnTx/>
              <a:uFillTx/>
              <a:latin typeface="Calibri"/>
              <a:ea typeface="+mn-ea"/>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4FB5C432-E63F-6355-19A5-32B65372F4D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6D3DC83-45E5-89A4-957B-69C5B50632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E6412DA-6D17-40E5-6A15-8B5AF801558C}"/>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92EBCA2-3245-D104-2D30-E525C5E8C6BA}"/>
              </a:ext>
            </a:extLst>
          </p:cNvPr>
          <p:cNvSpPr txBox="1"/>
          <p:nvPr/>
        </p:nvSpPr>
        <p:spPr>
          <a:xfrm>
            <a:off x="395536" y="1231007"/>
            <a:ext cx="8568952" cy="3108543"/>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Project Planning: Defined the problem of cold-start energy consumption prediction and selected suitable machine learning approaches.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Dataset Acquisition: Collected and organized the smart meter dataset from the CEEW source for analysis.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Preprocessing: Cleaned the dataset, handled missing values, and prepared the data for time-series modeling.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Model Implementation: Developed and trained models including Linear Regression, </a:t>
            </a: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 and LSTM for energy prediction.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Model Evaluation: Compared model performance using metrics such as MAE, RMSE, and R².</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Result Analysis: Analyzed prediction results to understand the effectiveness of different models.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Project Documentation: Compiled code, results, and explanations in the project repository for presentation and reporting. </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5621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4047" y="0"/>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p:cNvSpPr txBox="1"/>
          <p:nvPr/>
        </p:nvSpPr>
        <p:spPr>
          <a:xfrm>
            <a:off x="434950" y="1712206"/>
            <a:ext cx="8311779" cy="3970318"/>
          </a:xfrm>
          <a:prstGeom prst="rect">
            <a:avLst/>
          </a:prstGeom>
          <a:noFill/>
        </p:spPr>
        <p:txBody>
          <a:bodyPr wrap="square" lIns="91440" tIns="45720" rIns="91440" bIns="45720" anchor="t">
            <a:spAutoFit/>
          </a:bodyPr>
          <a:lstStyle/>
          <a:p>
            <a:pPr marL="285750" indent="-28575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Data Collection: Smart meter energy consumption data was obtained from the CEEW dataset, containing high-frequency electricity readings.</a:t>
            </a:r>
          </a:p>
          <a:p>
            <a:pPr marL="285750" indent="-28575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Data Preprocessing: The dataset was cleaned by handling missing values, formatting timestamps, and normalizing energy consumption values.</a:t>
            </a:r>
          </a:p>
          <a:p>
            <a:pPr marL="285750" indent="-28575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Feature Engineering: Time-based features such as hour, day, and sequential patterns were extracted to improve model learning.</a:t>
            </a:r>
          </a:p>
          <a:p>
            <a:pPr marL="285750" indent="-28575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Model Development: Multiple models including Linear Regression, </a:t>
            </a:r>
            <a:r>
              <a:rPr lang="en-US" altLang="en-US" dirty="0" err="1">
                <a:latin typeface="Times New Roman" panose="02020603050405020304" pitchFamily="18" charset="0"/>
                <a:cs typeface="Times New Roman" panose="02020603050405020304" pitchFamily="18" charset="0"/>
              </a:rPr>
              <a:t>XGBoost</a:t>
            </a:r>
            <a:r>
              <a:rPr lang="en-US" altLang="en-US" dirty="0">
                <a:latin typeface="Times New Roman" panose="02020603050405020304" pitchFamily="18" charset="0"/>
                <a:cs typeface="Times New Roman" panose="02020603050405020304" pitchFamily="18" charset="0"/>
              </a:rPr>
              <a:t>, and LSTM were implemented for energy consumption prediction.</a:t>
            </a:r>
          </a:p>
          <a:p>
            <a:pPr marL="285750" indent="-28575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Training and Testing: The dataset was divided into training and testing sets to evaluate model performance objectively.</a:t>
            </a:r>
          </a:p>
          <a:p>
            <a:pPr marL="285750" indent="-28575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Performance Evaluation: Models were compared using metrics such as MAE, RMSE, and R² to measure prediction accuracy.</a:t>
            </a:r>
          </a:p>
          <a:p>
            <a:pPr marL="285750" indent="-28575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Result Analysis: The outputs of each model were analyzed to identify the most effective approach for cold-start energy forecasting.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 Box 1"/>
          <p:cNvSpPr txBox="1"/>
          <p:nvPr/>
        </p:nvSpPr>
        <p:spPr>
          <a:xfrm>
            <a:off x="496386" y="1672221"/>
            <a:ext cx="8185150" cy="4256405"/>
          </a:xfrm>
          <a:prstGeom prst="rect">
            <a:avLst/>
          </a:prstGeom>
        </p:spPr>
        <p:txBody>
          <a:bodyPr lIns="91440" tIns="45720" rIns="91440" bIns="45720" anchor="t">
            <a:noAutofit/>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implemented models successfully predicted short-term energy consumption patterns from smart meter data.</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Linear Regression served as a baseline model for understanding basic relationships in the data.</a:t>
            </a:r>
          </a:p>
          <a:p>
            <a:pPr marL="285750" indent="-285750" algn="just">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 captured non-linear patterns and generally produced more accurate predictions than the baseline model.</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LSTM was able to learn temporal dependencies in the time-series data, improving forecasting capability for sequential energy usage.</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Model performance was evaluated using MAE, RMSE, and R², allowing comparison of prediction accuracy.</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results showed that advanced models like </a:t>
            </a: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 and LSTM performed better than traditional regression approaches for energy forecasting.</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These findings demonstrate the effectiveness of machine learning and deep learning techniques for cold-start energy prediction in smart building environments.</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p:cNvSpPr txBox="1"/>
          <p:nvPr/>
        </p:nvSpPr>
        <p:spPr>
          <a:xfrm>
            <a:off x="179512" y="1280401"/>
            <a:ext cx="8663305" cy="4443095"/>
          </a:xfrm>
          <a:prstGeom prst="rect">
            <a:avLst/>
          </a:prstGeom>
          <a:noFill/>
        </p:spPr>
        <p:txBody>
          <a:bodyPr wrap="square" lIns="91440" tIns="45720" rIns="91440" bIns="45720" anchor="t">
            <a:noAutofit/>
          </a:bodyPr>
          <a:lstStyle/>
          <a:p>
            <a:pPr marL="285750" indent="-285750" algn="just">
              <a:buFont typeface="Arial" panose="020B0604020202020204"/>
              <a:buChar char="•"/>
            </a:pPr>
            <a:r>
              <a:rPr lang="en-US" sz="1600" dirty="0">
                <a:latin typeface="Times New Roman" panose="02020603050405020304" pitchFamily="18" charset="0"/>
                <a:cs typeface="Times New Roman" panose="02020603050405020304" pitchFamily="18" charset="0"/>
              </a:rPr>
              <a:t>Week 1 – Problem Definition: Identified the cold-start energy prediction problem and finalized project objectives.</a:t>
            </a:r>
          </a:p>
          <a:p>
            <a:pPr marL="285750" indent="-285750" algn="just">
              <a:buFont typeface="Arial" panose="020B0604020202020204"/>
              <a:buChar char="•"/>
            </a:pPr>
            <a:r>
              <a:rPr lang="en-US" sz="1600" dirty="0">
                <a:latin typeface="Times New Roman" panose="02020603050405020304" pitchFamily="18" charset="0"/>
                <a:cs typeface="Times New Roman" panose="02020603050405020304" pitchFamily="18" charset="0"/>
              </a:rPr>
              <a:t>Week 2 – Data Collection: Acquired the smart meter dataset and organized it for analysis.</a:t>
            </a:r>
          </a:p>
          <a:p>
            <a:pPr marL="285750" indent="-285750" algn="just">
              <a:buFont typeface="Arial" panose="020B0604020202020204"/>
              <a:buChar char="•"/>
            </a:pPr>
            <a:r>
              <a:rPr lang="en-US" sz="1600" dirty="0">
                <a:latin typeface="Times New Roman" panose="02020603050405020304" pitchFamily="18" charset="0"/>
                <a:cs typeface="Times New Roman" panose="02020603050405020304" pitchFamily="18" charset="0"/>
              </a:rPr>
              <a:t>Week 3 – Data Preprocessing: Cleaned the dataset, handled missing values, and prepared time-series features.</a:t>
            </a:r>
          </a:p>
          <a:p>
            <a:pPr marL="285750" indent="-285750" algn="just">
              <a:buFont typeface="Arial" panose="020B0604020202020204"/>
              <a:buChar char="•"/>
            </a:pPr>
            <a:r>
              <a:rPr lang="en-US" sz="1600" dirty="0">
                <a:latin typeface="Times New Roman" panose="02020603050405020304" pitchFamily="18" charset="0"/>
                <a:cs typeface="Times New Roman" panose="02020603050405020304" pitchFamily="18" charset="0"/>
              </a:rPr>
              <a:t>Week 4 – Model Development: Implemented prediction models such as Linear Regression, </a:t>
            </a: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 and LSTM.</a:t>
            </a:r>
          </a:p>
          <a:p>
            <a:pPr marL="285750" indent="-285750" algn="just">
              <a:buFont typeface="Arial" panose="020B0604020202020204"/>
              <a:buChar char="•"/>
            </a:pPr>
            <a:r>
              <a:rPr lang="en-US" sz="1600" dirty="0">
                <a:latin typeface="Times New Roman" panose="02020603050405020304" pitchFamily="18" charset="0"/>
                <a:cs typeface="Times New Roman" panose="02020603050405020304" pitchFamily="18" charset="0"/>
              </a:rPr>
              <a:t>Week 5 – Training &amp; Evaluation: Trained models and evaluated performance using MAE, RMSE, and R² metrics.</a:t>
            </a:r>
          </a:p>
          <a:p>
            <a:pPr marL="285750" indent="-285750" algn="just">
              <a:buFont typeface="Arial" panose="020B0604020202020204"/>
              <a:buChar char="•"/>
            </a:pPr>
            <a:r>
              <a:rPr lang="en-US" sz="1600" dirty="0">
                <a:latin typeface="Times New Roman" panose="02020603050405020304" pitchFamily="18" charset="0"/>
                <a:cs typeface="Times New Roman" panose="02020603050405020304" pitchFamily="18" charset="0"/>
              </a:rPr>
              <a:t>Week 6 – Result Analysis: Compared model outputs and identified the best-performing approach.</a:t>
            </a:r>
          </a:p>
          <a:p>
            <a:pPr marL="285750" indent="-285750" algn="just">
              <a:buFont typeface="Arial" panose="020B0604020202020204"/>
              <a:buChar char="•"/>
            </a:pPr>
            <a:r>
              <a:rPr lang="en-US" sz="1600" dirty="0">
                <a:latin typeface="Times New Roman" panose="02020603050405020304" pitchFamily="18" charset="0"/>
                <a:cs typeface="Times New Roman" panose="02020603050405020304" pitchFamily="18" charset="0"/>
              </a:rPr>
              <a:t>Week 7 – Documentation &amp; Presentation: Compiled results, code, and findings for the final report and presentation.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anose="02020404030301010803" pitchFamily="18" charset="0"/>
              </a:rPr>
              <a:t>THANK</a:t>
            </a:r>
            <a:r>
              <a:rPr lang="en-US" sz="7200" dirty="0">
                <a:latin typeface="Garamond" panose="02020404030301010803" pitchFamily="18" charset="0"/>
              </a:rPr>
              <a:t> </a:t>
            </a:r>
            <a:r>
              <a:rPr lang="en-US" sz="7200" dirty="0">
                <a:solidFill>
                  <a:srgbClr val="E31E24"/>
                </a:solidFill>
                <a:latin typeface="Garamond" panose="02020404030301010803" pitchFamily="18" charset="0"/>
              </a:rPr>
              <a:t>YOU</a:t>
            </a:r>
            <a:endParaRPr lang="en-IN" sz="7200" dirty="0">
              <a:latin typeface="Garamond" panose="02020404030301010803"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1331</Words>
  <Application>Microsoft Office PowerPoint</Application>
  <PresentationFormat>On-screen Show (4:3)</PresentationFormat>
  <Paragraphs>112</Paragraphs>
  <Slides>13</Slides>
  <Notes>11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13</vt:i4>
      </vt:variant>
    </vt:vector>
  </HeadingPairs>
  <TitlesOfParts>
    <vt:vector size="21" baseType="lpstr">
      <vt:lpstr>Arial</vt:lpstr>
      <vt:lpstr>Calibri</vt:lpstr>
      <vt:lpstr>Cambria</vt:lpstr>
      <vt:lpstr>Garamond</vt:lpstr>
      <vt:lpstr>Times New Roman</vt:lpstr>
      <vt:lpstr>Verdana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Amber Paul</cp:lastModifiedBy>
  <cp:revision>378</cp:revision>
  <cp:lastPrinted>2022-09-05T08:43:00Z</cp:lastPrinted>
  <dcterms:created xsi:type="dcterms:W3CDTF">2020-01-16T09:05:00Z</dcterms:created>
  <dcterms:modified xsi:type="dcterms:W3CDTF">2026-03-09T18:05:21Z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7987168A72694B32B334683AC85B1531_13</vt:lpwstr>
  </property>
  <property fmtid="{D5CDD505-2E9C-101B-9397-08002B2CF9AE}" pid="3" name="KSOProductBuildVer">
    <vt:lpwstr>1033-12.2.0.23196</vt:lpwstr>
  </property>
</Properties>
</file>